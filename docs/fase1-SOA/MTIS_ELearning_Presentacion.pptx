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0" y="10972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8D1"/>
                </a:solidFill>
              </a:rPr>
              <a:t>MTIS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288D1"/>
                </a:solidFill>
              </a:rPr>
              <a:t>2025-2026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Universidad de Alicante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457200"/>
            <a:ext cx="2377440" cy="32004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57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Escenario 20 — E-Learning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Plataforma de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Educación Online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8D1"/>
                </a:solidFill>
              </a:rPr>
              <a:t>Proyecto de Integración de Sistemas – Primera Entrega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Erardo Aldana  ·  Cayetano Cánovas  ·  Joaquín Martínez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Guillermo Amorós  ·  Marcos Bentivegna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526280"/>
            <a:ext cx="5486400" cy="27432"/>
          </a:xfrm>
          <a:prstGeom prst="rect">
            <a:avLst/>
          </a:prstGeom>
          <a:solidFill>
            <a:srgbClr val="0288D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Contenido de la presentación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42976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Introducción y contexto del proyecto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85953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35608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35608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435608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Escenario de integración y sistemas implicados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911096"/>
            <a:ext cx="8595360" cy="42976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911096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11096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911096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Flujos de negocio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386584"/>
            <a:ext cx="85953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386584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386584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386584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Metodología SOA aplicada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8595360" cy="42976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862072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862072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2862072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Catálogo de servicios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953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337560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337560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337560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Diseño de contratos (OpenAPI &amp; WSDL)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813048"/>
            <a:ext cx="8595360" cy="42976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813048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813048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3813048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Consideraciones técnicas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288536"/>
            <a:ext cx="859536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4288536"/>
            <a:ext cx="548640" cy="429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288536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4288536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Conclusiones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Introducción y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 · Introducción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¿Por qué SOA?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Las organizaciones modernas operan con sistemas heterogéneos. SOA permite interoperabilidad sin crear dependencias directas.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743200" cy="3474720"/>
          </a:xfrm>
          <a:prstGeom prst="rect">
            <a:avLst/>
          </a:prstGeom>
          <a:solidFill>
            <a:srgbClr val="0288D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Nuestro escenario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Plataforma e-learning que integra SGA, pasarelas de pago y repositorios legacy bajo una arquitectura orientada a servicios.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743200" cy="347472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Metodología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Aplicamos el enfoque 'Meet-in-the-Middle' de Thomas Erl, combinando análisis Top-Down (procesos) y Bottom-Up (sistemas legacy).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Escenario de Integración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 · Escenario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09728" cy="10972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69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Front-End (React/Angular)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Cliente web del estudiante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94560"/>
            <a:ext cx="109728" cy="10972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04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SGA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Sistema de Gestión Académica — expedientes y notas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29000"/>
            <a:ext cx="109728" cy="10972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38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Legacy Content Repo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Repositorio legacy de materiales — protocolo SOAP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60120"/>
            <a:ext cx="109728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069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Financial Gateway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Pasarela de pago externa — REST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94560"/>
            <a:ext cx="109728" cy="10972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04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ESB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Enterprise Service Bus — orquestación central (fase 2)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429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429000"/>
            <a:ext cx="109728" cy="10972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538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Email 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886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Notificaciones al usuario por correo electrónico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Flujos de Negocio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 · Flujos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178308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F1 — Compra + Matriculación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978408"/>
            <a:ext cx="8686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978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Patrón: Saga / Coreografía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Selección curso → Pago → Matrícula → Notificación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06240" cy="178308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14400"/>
            <a:ext cx="4206240" cy="4114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F2 — Evaluación + Nota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978408"/>
            <a:ext cx="8686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978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389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Patrón: Transacción local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Acceso evaluación → Respuestas → Cálculo nota → Almacenamiento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206240" cy="178308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420624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F3 — Certificación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20440" y="2944368"/>
            <a:ext cx="8686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944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355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Patrón: Saga / Orquestación ESB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657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Verificar progreso → Comprobar nota → Generar certificado → Notificar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880360"/>
            <a:ext cx="4206240" cy="178308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880360"/>
            <a:ext cx="420624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F4 — Sincronización Legacy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0" y="2944368"/>
            <a:ext cx="8686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2944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SOAP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355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Patrón: Compensación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657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Solicitud sync → Obtener metadatos → Actualizar catálogo → Confirmar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Metodología SOA Aplicada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 · Metodología SOA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32588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1325880" cy="4572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Descomposición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1143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Identificar todas las acciones del proceso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2651760"/>
            <a:ext cx="13716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1640" y="1005840"/>
            <a:ext cx="132588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91640" y="1005840"/>
            <a:ext cx="1325880" cy="4572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15544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Capacidades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Candidatas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286000"/>
            <a:ext cx="1143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Filtrar acciones automatizables y públicas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2651760"/>
            <a:ext cx="13716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1005840"/>
            <a:ext cx="132588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005840"/>
            <a:ext cx="1325880" cy="4572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15544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Servicios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Agnósticos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2286000"/>
            <a:ext cx="1143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Entity, Task y Application Services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2651760"/>
            <a:ext cx="13716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1005840"/>
            <a:ext cx="132588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005840"/>
            <a:ext cx="1325880" cy="4572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5544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Lógica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Proceso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286000"/>
            <a:ext cx="1143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Identificar el Process Service orquestador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2651760"/>
            <a:ext cx="13716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0760" y="1005840"/>
            <a:ext cx="132588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005840"/>
            <a:ext cx="1325880" cy="4572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15544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Principios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SOA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286000"/>
            <a:ext cx="1143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Reusabilidad, autonomía, sin estado, contrato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06640" y="2651760"/>
            <a:ext cx="13716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6" name="Shape 34"/>
          <p:cNvSpPr/>
          <p:nvPr/>
        </p:nvSpPr>
        <p:spPr>
          <a:xfrm>
            <a:off x="7543800" y="1005840"/>
            <a:ext cx="132588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43800" y="1005840"/>
            <a:ext cx="1325880" cy="4572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8" name="Text 36"/>
          <p:cNvSpPr/>
          <p:nvPr/>
        </p:nvSpPr>
        <p:spPr>
          <a:xfrm>
            <a:off x="754380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15544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Composición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de Servicio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2286000"/>
            <a:ext cx="1143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Diagrama de capas proceso→negocio→app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C0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Catálogo de Servicios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 · Catálogo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371600"/>
                <a:gridCol w="42062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Servicio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Categoría SOA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UserService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8D1"/>
                          </a:solidFill>
                        </a:rPr>
                        <a:t>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Entity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Gestión de usuarios del sistema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CourseService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8D1"/>
                          </a:solidFill>
                        </a:rPr>
                        <a:t>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Entity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Gestión del catálogo de cursos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EnrollmentService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8D1"/>
                          </a:solidFill>
                        </a:rPr>
                        <a:t>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Proceso de matriculación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EvaluationService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8D1"/>
                          </a:solidFill>
                        </a:rPr>
                        <a:t>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Evaluaciones y cálculo de notas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EmailNotificationService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8D1"/>
                          </a:solidFill>
                        </a:rPr>
                        <a:t>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Utility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Envío de notificaciones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CertificateService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B1FA2"/>
                          </a:solidFill>
                        </a:rPr>
                        <a:t>SOAP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Generación de certificados oficiales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LegacyConnectorService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B1FA2"/>
                          </a:solidFill>
                        </a:rPr>
                        <a:t>SOAP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Utility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Integración con sistema legacy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FinancialGatewayService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B1FA2"/>
                          </a:solidFill>
                        </a:rPr>
                        <a:t>SOAP/REST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External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Pasarela de pago externa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Diseño de Contratos de Servicio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 · Contratos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206240" cy="4114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OpenAPI 3.0 (REST)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4264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Servicios: UserService, CourseService,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EnrollmentService, EvaluationService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002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Formato YAML — especificación contract-first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578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Modelo de madurez Richardson (nivel 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54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Recursos: /users, /courses, /enrollments,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/evaluations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Respuestas estandarizadas: 200, 201, 400, 404, 500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WSDL (SOAP)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481328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3" name="Text 21"/>
          <p:cNvSpPr/>
          <p:nvPr/>
        </p:nvSpPr>
        <p:spPr>
          <a:xfrm>
            <a:off x="5102352" y="14264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Servicios: CertificateService,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LegacyConnectorService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57400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2002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Estilo: document/literal — interoperabilidad máxima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33472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578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Seguridad: WS-Security en mensajes críticos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209544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3154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Operaciones: GenerarCertificado,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SincronizarContenido, ObtenerContenido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785616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Tipos complejos definidos en XSD inline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Consideraciones Técnicas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 · Técnico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3931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88920" cy="4572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🔐 Seguridad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73152" cy="7315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TLS 1.2/1.3 en todas las comunicaciones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73152" cy="7315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947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OAuth 2.0 + JWT (sesiones sin estado)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73152" cy="7315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4505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RBAC: roles Estudiante / Instructor / Admin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73152" cy="7315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2953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WS-Security en servicios SOAP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73152" cy="7315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3456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bcrypt + salt para contraseñas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73152" cy="7315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3959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PCI-DSS: tokenización de pagos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914400"/>
            <a:ext cx="2788920" cy="3931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914400"/>
            <a:ext cx="2788920" cy="4572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⚙️ Transacciones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91840" y="1508760"/>
            <a:ext cx="73152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Modelo BASE para flujos distribuidos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2011680"/>
            <a:ext cx="73152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1947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Patrón Saga (coreografía): Compra/Matrícula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2514600"/>
            <a:ext cx="73152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9" name="Text 27"/>
          <p:cNvSpPr/>
          <p:nvPr/>
        </p:nvSpPr>
        <p:spPr>
          <a:xfrm>
            <a:off x="3447288" y="24505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Patrón Saga (orquestación ESB): Certificados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017520"/>
            <a:ext cx="73152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1" name="Text 29"/>
          <p:cNvSpPr/>
          <p:nvPr/>
        </p:nvSpPr>
        <p:spPr>
          <a:xfrm>
            <a:off x="3447288" y="2953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Compensación: Sincronización Legacy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3520440"/>
            <a:ext cx="73152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3" name="Text 31"/>
          <p:cNvSpPr/>
          <p:nvPr/>
        </p:nvSpPr>
        <p:spPr>
          <a:xfrm>
            <a:off x="3447288" y="3456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Idempotencia en todos los servicios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91840" y="4023360"/>
            <a:ext cx="73152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5" name="Text 33"/>
          <p:cNvSpPr/>
          <p:nvPr/>
        </p:nvSpPr>
        <p:spPr>
          <a:xfrm>
            <a:off x="3447288" y="3959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Reintentos automáticos desde el ESB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914400"/>
            <a:ext cx="2788920" cy="3931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914400"/>
            <a:ext cx="2788920" cy="45720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🔄 ESB (Fase 2)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1508760"/>
            <a:ext cx="73152" cy="7315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40" name="Text 38"/>
          <p:cNvSpPr/>
          <p:nvPr/>
        </p:nvSpPr>
        <p:spPr>
          <a:xfrm>
            <a:off x="6373368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Mule ESB / WSO2 — a definir con el profesor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2011680"/>
            <a:ext cx="73152" cy="7315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1947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Content-Based Router para enrutamiento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2514600"/>
            <a:ext cx="73152" cy="7315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44" name="Text 42"/>
          <p:cNvSpPr/>
          <p:nvPr/>
        </p:nvSpPr>
        <p:spPr>
          <a:xfrm>
            <a:off x="6373368" y="24505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Message Translator JSON ↔ XML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3017520"/>
            <a:ext cx="73152" cy="7315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46" name="Text 44"/>
          <p:cNvSpPr/>
          <p:nvPr/>
        </p:nvSpPr>
        <p:spPr>
          <a:xfrm>
            <a:off x="6373368" y="2953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Orquestación SOAP: Compra + Matrícula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3520440"/>
            <a:ext cx="73152" cy="7315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48" name="Text 46"/>
          <p:cNvSpPr/>
          <p:nvPr/>
        </p:nvSpPr>
        <p:spPr>
          <a:xfrm>
            <a:off x="6373368" y="3456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Orquestación REST: Evaluación + Certificado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4023360"/>
            <a:ext cx="73152" cy="7315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50" name="Text 48"/>
          <p:cNvSpPr/>
          <p:nvPr/>
        </p:nvSpPr>
        <p:spPr>
          <a:xfrm>
            <a:off x="6373368" y="3959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</a:rPr>
              <a:t>Dead Letter Queue + Correlation ID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C0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Ejemplo de Proceso: Emisión de Certificado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SOA — Proceso Detallado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Diagrama de Composición de Servicio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 PROCESO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23444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ServicioProcesoEmisionCertificado  →  EmitirCertificado()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6576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103120"/>
            <a:ext cx="8595360" cy="96012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03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CAPA NEGOCIO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2176272"/>
            <a:ext cx="22860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37360" y="2176272"/>
            <a:ext cx="2286000" cy="2560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EvaluationService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8308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ConsultarNotaFinal()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60520" y="2176272"/>
            <a:ext cx="22860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2176272"/>
            <a:ext cx="2286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ConsultarCursoCompletado()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0" y="2176272"/>
            <a:ext cx="22860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2176272"/>
            <a:ext cx="2286000" cy="25603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GenerarCertificado()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4840" y="3063240"/>
            <a:ext cx="36576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337560"/>
            <a:ext cx="859536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337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 APLICACIÓN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37360" y="33375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EmailNotificationService  →  EnviarNotificacion()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</a:rPr>
              <a:t>Patrón de coordinación:  Saga por Orquestación — el ESB dirige la secuencia completa con gestión de reintentos y Dead Letter Queue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Conclusiones y Próximos Pasos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 · Conclusiones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Logros Primera Entrega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435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Escenario realista con 4 flujos de negocio principales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057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Catálogo de 8 servicios clasificados según Thomas Erl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7919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Contratos OpenAPI y WSDL definidos (contract-first)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009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Análisis SOA completo en 6 pasos para 3 procesos clave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227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Seguridad, transacciones y ESB diseñados de forma coherente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Segunda Entrega (Mayo 2026)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19472" y="1490472"/>
            <a:ext cx="182880" cy="1828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4447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Implementar servicios SOAP en Java (Axis2)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9472" y="2011680"/>
            <a:ext cx="182880" cy="1828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1965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Implementar servicios REST en Node.js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9472" y="2532888"/>
            <a:ext cx="182880" cy="1828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4871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Desplegar ESB (Mule ESB o WSO2)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9472" y="3054096"/>
            <a:ext cx="182880" cy="1828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0083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Desarrollar Front-End (React/Angular)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19472" y="3575304"/>
            <a:ext cx="182880" cy="1828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35295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Base de datos MySQL + integración back-end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4096512"/>
            <a:ext cx="182880" cy="1828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40507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Demo completa con flujos orquestados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C0"/>
                </a:solidFill>
              </a:rPr>
              <a:t>Grupo 20 – Plataforma E-Learning  |  MTIS 2025-2026  |  Universidad de Alicante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4" name="Shape 2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Gracias por vuestra atención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8D1"/>
                </a:solidFill>
              </a:rPr>
              <a:t>¿Preguntas?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Grupo 20 — Plataforma E-Learning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MTIS · Universidad de Alicante · 2025-2026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E-Learning – Proyecto de Integración MTIS</dc:title>
  <dc:subject>PptxGenJS Presentation</dc:subject>
  <dc:creator>PptxGenJS</dc:creator>
  <cp:lastModifiedBy>PptxGenJS</cp:lastModifiedBy>
  <cp:revision>1</cp:revision>
  <dcterms:created xsi:type="dcterms:W3CDTF">2026-03-16T13:22:02Z</dcterms:created>
  <dcterms:modified xsi:type="dcterms:W3CDTF">2026-03-16T13:22:02Z</dcterms:modified>
</cp:coreProperties>
</file>